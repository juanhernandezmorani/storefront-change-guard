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60120"/>
            <a:ext cx="4663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Storefront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Change Guard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58368" y="256032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D1D1F"/>
                </a:solidFill>
              </a:rPr>
              <a:t>Prototipo local-first para review de codigo, validacion aislada y readiness deterministico.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58368" y="3429000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497580"/>
            <a:ext cx="859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IA local</a:t>
            </a:r>
            <a:endParaRPr lang="en-US" sz="840" dirty="0"/>
          </a:p>
        </p:txBody>
      </p:sp>
      <p:sp>
        <p:nvSpPr>
          <p:cNvPr id="6" name="Shape 4"/>
          <p:cNvSpPr/>
          <p:nvPr/>
        </p:nvSpPr>
        <p:spPr>
          <a:xfrm>
            <a:off x="1783080" y="3429000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56232" y="3497580"/>
            <a:ext cx="9966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Evidencia</a:t>
            </a:r>
            <a:endParaRPr lang="en-US" sz="840" dirty="0"/>
          </a:p>
        </p:txBody>
      </p:sp>
      <p:sp>
        <p:nvSpPr>
          <p:cNvPr id="8" name="Shape 6"/>
          <p:cNvSpPr/>
          <p:nvPr/>
        </p:nvSpPr>
        <p:spPr>
          <a:xfrm>
            <a:off x="3063240" y="3429000"/>
            <a:ext cx="1600200" cy="292608"/>
          </a:xfrm>
          <a:prstGeom prst="roundRect">
            <a:avLst>
              <a:gd name="adj" fmla="val 18750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36392" y="3497580"/>
            <a:ext cx="1453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READY controlado</a:t>
            </a:r>
            <a:endParaRPr lang="en-US" sz="840" dirty="0"/>
          </a:p>
        </p:txBody>
      </p:sp>
      <p:sp>
        <p:nvSpPr>
          <p:cNvPr id="10" name="Shape 8"/>
          <p:cNvSpPr/>
          <p:nvPr/>
        </p:nvSpPr>
        <p:spPr>
          <a:xfrm>
            <a:off x="6492240" y="502920"/>
            <a:ext cx="4937760" cy="4937760"/>
          </a:xfrm>
          <a:prstGeom prst="arc">
            <a:avLst/>
          </a:prstGeom>
          <a:noFill/>
          <a:ln w="12700">
            <a:solidFill>
              <a:srgbClr val="C9D6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03720" y="914400"/>
            <a:ext cx="4160520" cy="4160520"/>
          </a:xfrm>
          <a:prstGeom prst="arc">
            <a:avLst/>
          </a:prstGeom>
          <a:noFill/>
          <a:ln w="12700">
            <a:solidFill>
              <a:srgbClr val="99B8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0" y="1325880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07808" y="1444752"/>
            <a:ext cx="16093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7365D"/>
                </a:solidFill>
              </a:rPr>
              <a:t>Review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b="1" dirty="0">
                <a:solidFill>
                  <a:srgbClr val="17365D"/>
                </a:solidFill>
              </a:rPr>
              <a:t>accionable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8823960" y="2606040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33688" y="2724912"/>
            <a:ext cx="16093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7365D"/>
                </a:solidFill>
              </a:rPr>
              <a:t>Parche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b="1" dirty="0">
                <a:solidFill>
                  <a:srgbClr val="17365D"/>
                </a:solidFill>
              </a:rPr>
              <a:t>aisaldo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7040880" y="3840480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50608" y="3959352"/>
            <a:ext cx="16093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7365D"/>
                </a:solidFill>
              </a:rPr>
              <a:t>Decision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b="1" dirty="0">
                <a:solidFill>
                  <a:srgbClr val="17365D"/>
                </a:solidFill>
              </a:rPr>
              <a:t>READY</a:t>
            </a:r>
            <a:endParaRPr lang="en-US" sz="1180" dirty="0"/>
          </a:p>
        </p:txBody>
      </p:sp>
      <p:sp>
        <p:nvSpPr>
          <p:cNvPr id="18" name="Text 16"/>
          <p:cNvSpPr/>
          <p:nvPr/>
        </p:nvSpPr>
        <p:spPr>
          <a:xfrm>
            <a:off x="658368" y="59893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0"/>
                </a:solidFill>
              </a:rPr>
              <a:t>Entrega final · Candidatura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692640" y="6528816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470"/>
                </a:solidFill>
              </a:rPr>
              <a:t>Storefront Change Guard · 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 elegido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7724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</a:rPr>
              <a:t>Friccion real en equipos que mantienen storefronts e-commerce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173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7365D"/>
                </a:solidFill>
              </a:rPr>
              <a:t>El ciclo completo es grande; ataque el punto donde la IA puede aportar valor sin tomar autoridad indebida.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58368" y="2331720"/>
            <a:ext cx="466344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500" dirty="0">
                <a:solidFill>
                  <a:srgbClr val="1D1D1F"/>
                </a:solidFill>
              </a:rPr>
              <a:t>Las reviews pueden ser inconsistentes o tardias.</a:t>
            </a:r>
            <a:endParaRPr lang="en-US" sz="1500" dirty="0"/>
          </a:p>
          <a:p>
            <a:r>
              <a:rPr lang="en-US" sz="1500" dirty="0">
                <a:solidFill>
                  <a:srgbClr val="1D1D1F"/>
                </a:solidFill>
              </a:rPr>
              <a:t>Los bugs de reglas de negocio aparecen tarde.</a:t>
            </a:r>
            <a:endParaRPr lang="en-US" sz="1500" dirty="0"/>
          </a:p>
          <a:p>
            <a:r>
              <a:rPr lang="en-US" sz="1500" dirty="0">
                <a:solidFill>
                  <a:srgbClr val="1D1D1F"/>
                </a:solidFill>
              </a:rPr>
              <a:t>La documentacion queda atrasada.</a:t>
            </a:r>
            <a:endParaRPr lang="en-US" sz="1500" dirty="0"/>
          </a:p>
          <a:p>
            <a:r>
              <a:rPr lang="en-US" sz="1500" dirty="0">
                <a:solidFill>
                  <a:srgbClr val="1D1D1F"/>
                </a:solidFill>
              </a:rPr>
              <a:t>La decision de avanzar necesita evidencia, no solo opinion.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92240" y="13716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Alcance final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37960" y="1874520"/>
            <a:ext cx="420624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02552" y="2020824"/>
            <a:ext cx="38770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</a:rPr>
              <a:t>Review con evidencia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</a:rPr>
              <a:t>+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</a:rPr>
              <a:t>validacion de correccion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</a:rPr>
              <a:t>+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</a:rPr>
              <a:t>readiness deterministico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0" y="388620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</a:rPr>
              <a:t>No automatizo merge ni despliegue. El prototipo ayuda a decidir, pero no reemplaza la autoridad humana.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92640" y="6528816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470"/>
                </a:solidFill>
              </a:rPr>
              <a:t>Storefront Change Guard · 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Arquitectura con autoridad separada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7724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</a:rPr>
              <a:t>El modelo analiza; las reglas deterministicas validan y deciden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48840" y="2414016"/>
            <a:ext cx="338328" cy="0"/>
          </a:xfrm>
          <a:prstGeom prst="line">
            <a:avLst/>
          </a:prstGeom>
          <a:noFill/>
          <a:ln w="12700">
            <a:solidFill>
              <a:srgbClr val="5B6470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904488" y="2414016"/>
            <a:ext cx="338328" cy="0"/>
          </a:xfrm>
          <a:prstGeom prst="line">
            <a:avLst/>
          </a:prstGeom>
          <a:noFill/>
          <a:ln w="12700">
            <a:solidFill>
              <a:srgbClr val="5B6470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660136" y="2414016"/>
            <a:ext cx="338328" cy="0"/>
          </a:xfrm>
          <a:prstGeom prst="line">
            <a:avLst/>
          </a:prstGeom>
          <a:noFill/>
          <a:ln w="12700">
            <a:solidFill>
              <a:srgbClr val="5B6470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415784" y="2414016"/>
            <a:ext cx="338328" cy="0"/>
          </a:xfrm>
          <a:prstGeom prst="line">
            <a:avLst/>
          </a:prstGeom>
          <a:noFill/>
          <a:ln w="12700">
            <a:solidFill>
              <a:srgbClr val="5B6470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171432" y="2414016"/>
            <a:ext cx="338328" cy="0"/>
          </a:xfrm>
          <a:prstGeom prst="line">
            <a:avLst/>
          </a:prstGeom>
          <a:noFill/>
          <a:ln w="12700">
            <a:solidFill>
              <a:srgbClr val="5B6470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31520" y="2103120"/>
            <a:ext cx="141732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221992"/>
            <a:ext cx="1197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7365D"/>
                </a:solidFill>
              </a:rPr>
              <a:t>Intake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2487168" y="2103120"/>
            <a:ext cx="141732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96896" y="2221992"/>
            <a:ext cx="1197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7365D"/>
                </a:solidFill>
              </a:rPr>
              <a:t>Evidencia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b="1" dirty="0">
                <a:solidFill>
                  <a:srgbClr val="17365D"/>
                </a:solidFill>
              </a:rPr>
              <a:t>Git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4242816" y="2103120"/>
            <a:ext cx="1417320" cy="621792"/>
          </a:xfrm>
          <a:prstGeom prst="roundRect">
            <a:avLst>
              <a:gd name="adj" fmla="val 8824"/>
            </a:avLst>
          </a:prstGeom>
          <a:solidFill>
            <a:srgbClr val="E9F3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52544" y="2221992"/>
            <a:ext cx="1197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7365D"/>
                </a:solidFill>
              </a:rPr>
              <a:t>Modelo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b="1" dirty="0">
                <a:solidFill>
                  <a:srgbClr val="17365D"/>
                </a:solidFill>
              </a:rPr>
              <a:t>local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5998464" y="2103120"/>
            <a:ext cx="141732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08192" y="2221992"/>
            <a:ext cx="1197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7365D"/>
                </a:solidFill>
              </a:rPr>
              <a:t>Validador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b="1" dirty="0">
                <a:solidFill>
                  <a:srgbClr val="17365D"/>
                </a:solidFill>
              </a:rPr>
              <a:t>JSON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7754112" y="2103120"/>
            <a:ext cx="141732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0" y="2221992"/>
            <a:ext cx="1197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7365D"/>
                </a:solidFill>
              </a:rPr>
              <a:t>Worktree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b="1" dirty="0">
                <a:solidFill>
                  <a:srgbClr val="17365D"/>
                </a:solidFill>
              </a:rPr>
              <a:t>parche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9509760" y="2103120"/>
            <a:ext cx="141732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19488" y="2221992"/>
            <a:ext cx="1197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7365D"/>
                </a:solidFill>
              </a:rPr>
              <a:t>Politica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b="1" dirty="0">
                <a:solidFill>
                  <a:srgbClr val="17365D"/>
                </a:solidFill>
              </a:rPr>
              <a:t>READY</a:t>
            </a:r>
            <a:endParaRPr lang="en-US" sz="1180" dirty="0"/>
          </a:p>
        </p:txBody>
      </p:sp>
      <p:sp>
        <p:nvSpPr>
          <p:cNvPr id="22" name="Text 20"/>
          <p:cNvSpPr/>
          <p:nvPr/>
        </p:nvSpPr>
        <p:spPr>
          <a:xfrm>
            <a:off x="777240" y="37947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Fronteras clave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68680" y="4251960"/>
            <a:ext cx="4572000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400" dirty="0">
                <a:solidFill>
                  <a:srgbClr val="1D1D1F"/>
                </a:solidFill>
              </a:rPr>
              <a:t>El modelo no ejecuta shell.</a:t>
            </a:r>
            <a:endParaRPr lang="en-US" sz="1400" dirty="0"/>
          </a:p>
          <a:p>
            <a:r>
              <a:rPr lang="en-US" sz="1400" dirty="0">
                <a:solidFill>
                  <a:srgbClr val="1D1D1F"/>
                </a:solidFill>
              </a:rPr>
              <a:t>El parche nunca toca el checkout principal.</a:t>
            </a:r>
            <a:endParaRPr lang="en-US" sz="1400" dirty="0"/>
          </a:p>
          <a:p>
            <a:r>
              <a:rPr lang="en-US" sz="1400" dirty="0">
                <a:solidFill>
                  <a:srgbClr val="1D1D1F"/>
                </a:solidFill>
              </a:rPr>
              <a:t>READY sale de JSON previos, no de texto libre.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0" y="3977640"/>
            <a:ext cx="4343400" cy="1005840"/>
          </a:xfrm>
          <a:prstGeom prst="roundRect">
            <a:avLst>
              <a:gd name="adj" fmla="val 5455"/>
            </a:avLst>
          </a:prstGeom>
          <a:solidFill>
            <a:srgbClr val="FFF8E8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65392" y="4123944"/>
            <a:ext cx="4014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</a:rPr>
              <a:t>Resultado: puedo demostrar IA agéntica útil sin ceder permisos peligrosos.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692640" y="6528816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470"/>
                </a:solidFill>
              </a:rPr>
              <a:t>Storefront Change Guard · 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Capacidades demostradas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7724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</a:rPr>
              <a:t>El reto pedia dos; el prototipo cubre las cuatro de forma acotada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44752"/>
            <a:ext cx="347472" cy="292608"/>
          </a:xfrm>
          <a:prstGeom prst="rect">
            <a:avLst/>
          </a:prstGeom>
          <a:solidFill>
            <a:srgbClr val="1F77B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25880" y="1417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Review accionable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25880" y="1764792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</a:rPr>
              <a:t>Hallazgos con severidad, evidencia y limites.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347472" cy="292608"/>
          </a:xfrm>
          <a:prstGeom prst="rect">
            <a:avLst/>
          </a:prstGeom>
          <a:solidFill>
            <a:srgbClr val="1F77B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25880" y="24414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Correccion validada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25880" y="2788920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</a:rPr>
              <a:t>Diff suministrado en worktree separado.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3493008"/>
            <a:ext cx="347472" cy="292608"/>
          </a:xfrm>
          <a:prstGeom prst="rect">
            <a:avLst/>
          </a:prstGeom>
          <a:solidFill>
            <a:srgbClr val="1F77B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3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325880" y="34655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Q&amp;A sobre codigo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325880" y="3813048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</a:rPr>
              <a:t>Pregunta en espanol con archivo explicito.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7240" y="4517136"/>
            <a:ext cx="347472" cy="292608"/>
          </a:xfrm>
          <a:prstGeom prst="rect">
            <a:avLst/>
          </a:prstGeom>
          <a:solidFill>
            <a:srgbClr val="1F77B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4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325880" y="44897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Decision readiness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325880" y="4837176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</a:rPr>
              <a:t>Politica fija devuelve READY/NOT_READY.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766560" y="1645920"/>
            <a:ext cx="4023360" cy="1920240"/>
          </a:xfrm>
          <a:prstGeom prst="roundRect">
            <a:avLst>
              <a:gd name="adj" fmla="val 2857"/>
            </a:avLst>
          </a:prstGeom>
          <a:solidFill>
            <a:srgbClr val="F1F8F2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31152" y="1792224"/>
            <a:ext cx="369417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</a:rPr>
              <a:t>Validacion code-first: los gates y tests no dependen de promesas del modelo. Cada salida relevante queda como artefacto.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66560" y="3977640"/>
            <a:ext cx="4023360" cy="1234440"/>
          </a:xfrm>
          <a:prstGeom prst="roundRect">
            <a:avLst>
              <a:gd name="adj" fmla="val 4444"/>
            </a:avLst>
          </a:prstGeom>
          <a:solidFill>
            <a:srgbClr val="F8F1F1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31152" y="4123944"/>
            <a:ext cx="3694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</a:rPr>
              <a:t>La IA puede fallar; por eso el sistema valida estructura, evidencia y comandos permitidos.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92640" y="6528816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470"/>
                </a:solidFill>
              </a:rPr>
              <a:t>Storefront Change Guard · 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 1: rendimiento bruto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7724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</a:rPr>
              <a:t>La primera medicion favorecia modelos mas pequenos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pic>
        <p:nvPicPr>
          <p:cNvPr id="5" name="Image 0" descr="/mnt/data/scg_work/benchmark_results/test_1/plots/cold_cli_generation_throughput_distribution.png">    </p:cNvPr>
          <p:cNvPicPr>
            <a:picLocks noChangeAspect="1"/>
          </p:cNvPicPr>
          <p:nvPr/>
        </p:nvPicPr>
        <p:blipFill>
          <a:blip r:embed="rId1"/>
          <a:srcRect l="1230" r="1230" t="0" b="0"/>
          <a:stretch/>
        </p:blipFill>
        <p:spPr>
          <a:xfrm>
            <a:off x="594360" y="1325880"/>
            <a:ext cx="5440680" cy="2788920"/>
          </a:xfrm>
          <a:prstGeom prst="rect">
            <a:avLst/>
          </a:prstGeom>
        </p:spPr>
      </p:pic>
      <p:pic>
        <p:nvPicPr>
          <p:cNvPr id="6" name="Image 1" descr="/mnt/data/scg_work/benchmark_results/test_1/plots/cold_cli_peak_memory_distribution.png">    </p:cNvPr>
          <p:cNvPicPr>
            <a:picLocks noChangeAspect="1"/>
          </p:cNvPicPr>
          <p:nvPr/>
        </p:nvPicPr>
        <p:blipFill>
          <a:blip r:embed="rId2"/>
          <a:srcRect l="0" r="0" t="5797" b="5797"/>
          <a:stretch/>
        </p:blipFill>
        <p:spPr>
          <a:xfrm>
            <a:off x="6309360" y="1325880"/>
            <a:ext cx="5257800" cy="2788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470916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Lectura: throughput y memoria son importantes, pero no suficientes para elegir el modelo de producto.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2011680" y="53492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1D1F"/>
                </a:solidFill>
              </a:rPr>
              <a:t>Conservo `benchmark_results/` porque Test 1 es evidencia valida del criterio inicial.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9692640" y="6528816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470"/>
                </a:solidFill>
              </a:rPr>
              <a:t>Storefront Change Guard · 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 que cambie de modelo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7724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</a:rPr>
              <a:t>El flujo real exigia cumplir un contrato estructurado, no solo generar rapido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600200"/>
            <a:ext cx="2148840" cy="841248"/>
          </a:xfrm>
          <a:prstGeom prst="roundRect">
            <a:avLst>
              <a:gd name="adj" fmla="val 6522"/>
            </a:avLst>
          </a:prstGeom>
          <a:solidFill>
            <a:srgbClr val="E9F3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1719072"/>
            <a:ext cx="1929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7365D"/>
                </a:solidFill>
              </a:rPr>
              <a:t>4B Q4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b="1" dirty="0">
                <a:solidFill>
                  <a:srgbClr val="17365D"/>
                </a:solidFill>
              </a:rPr>
              <a:t>rapido y liviano</a:t>
            </a:r>
            <a:endParaRPr lang="en-US" sz="1180" dirty="0"/>
          </a:p>
        </p:txBody>
      </p:sp>
      <p:sp>
        <p:nvSpPr>
          <p:cNvPr id="7" name="Shape 5"/>
          <p:cNvSpPr/>
          <p:nvPr/>
        </p:nvSpPr>
        <p:spPr>
          <a:xfrm>
            <a:off x="3840480" y="1600200"/>
            <a:ext cx="2148840" cy="841248"/>
          </a:xfrm>
          <a:prstGeom prst="roundRect">
            <a:avLst>
              <a:gd name="adj" fmla="val 6522"/>
            </a:avLst>
          </a:prstGeom>
          <a:solidFill>
            <a:srgbClr val="FBEAE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50208" y="1719072"/>
            <a:ext cx="1929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7365D"/>
                </a:solidFill>
              </a:rPr>
              <a:t>Problema real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b="1" dirty="0">
                <a:solidFill>
                  <a:srgbClr val="17365D"/>
                </a:solidFill>
              </a:rPr>
              <a:t>JSON incompleto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6812280" y="1600200"/>
            <a:ext cx="2148840" cy="841248"/>
          </a:xfrm>
          <a:prstGeom prst="roundRect">
            <a:avLst>
              <a:gd name="adj" fmla="val 6522"/>
            </a:avLst>
          </a:prstGeom>
          <a:solidFill>
            <a:srgbClr val="EAF6E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22008" y="1719072"/>
            <a:ext cx="1929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7365D"/>
                </a:solidFill>
              </a:rPr>
              <a:t>9B IQ3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b="1" dirty="0">
                <a:solidFill>
                  <a:srgbClr val="17365D"/>
                </a:solidFill>
              </a:rPr>
              <a:t>contrato cumplido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3063240" y="2020824"/>
            <a:ext cx="713232" cy="0"/>
          </a:xfrm>
          <a:prstGeom prst="line">
            <a:avLst/>
          </a:prstGeom>
          <a:noFill/>
          <a:ln w="12700">
            <a:solidFill>
              <a:srgbClr val="5B647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035040" y="2020824"/>
            <a:ext cx="713232" cy="0"/>
          </a:xfrm>
          <a:prstGeom prst="line">
            <a:avLst/>
          </a:prstGeom>
          <a:noFill/>
          <a:ln w="12700">
            <a:solidFill>
              <a:srgbClr val="5B6470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868680" y="3063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Error simplificado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68680" y="352044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</a:rPr>
              <a:t>El modelo devolvia una respuesta que parecia encaminada, pero el JSON final quedaba truncado o incompleto. El parser estricto tenia que rechazarlo.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355080" y="3246120"/>
            <a:ext cx="4434840" cy="1554480"/>
          </a:xfrm>
          <a:prstGeom prst="roundRect">
            <a:avLst>
              <a:gd name="adj" fmla="val 3529"/>
            </a:avLst>
          </a:prstGeom>
          <a:solidFill>
            <a:srgbClr val="FFF8E8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19672" y="3392424"/>
            <a:ext cx="410565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</a:rPr>
              <a:t>Decision: preferi una salida mas lenta pero valida. Para review automatizada, un JSON rapido e invalido vale cero.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92640" y="6528816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470"/>
                </a:solidFill>
              </a:rPr>
              <a:t>Storefront Change Guard · 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Gates vivos y decision final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7724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</a:rPr>
              <a:t>El modelo queda en una etapa; la aprobacion final es deterministica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17320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EAF6E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536192"/>
            <a:ext cx="1746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7365D"/>
                </a:solidFill>
              </a:rPr>
              <a:t>Gate A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b="1" dirty="0">
                <a:solidFill>
                  <a:srgbClr val="17365D"/>
                </a:solidFill>
              </a:rPr>
              <a:t>ANALYSIS_COMPLETED</a:t>
            </a:r>
            <a:endParaRPr lang="en-US" sz="118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0"/>
                </a:solidFill>
              </a:rPr>
              <a:t>Review con evidencia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37560" y="1417320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EAF6E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47288" y="1536192"/>
            <a:ext cx="1746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7365D"/>
                </a:solidFill>
              </a:rPr>
              <a:t>Gate B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b="1" dirty="0">
                <a:solidFill>
                  <a:srgbClr val="17365D"/>
                </a:solidFill>
              </a:rPr>
              <a:t>ANALYSIS_CACHE_HIT</a:t>
            </a:r>
            <a:endParaRPr lang="en-US" sz="1180" dirty="0"/>
          </a:p>
        </p:txBody>
      </p:sp>
      <p:sp>
        <p:nvSpPr>
          <p:cNvPr id="10" name="Text 8"/>
          <p:cNvSpPr/>
          <p:nvPr/>
        </p:nvSpPr>
        <p:spPr>
          <a:xfrm>
            <a:off x="3337560" y="24231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0"/>
                </a:solidFill>
              </a:rPr>
              <a:t>Cache seguro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852160" y="1417320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EAF6E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61888" y="1536192"/>
            <a:ext cx="1746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7365D"/>
                </a:solidFill>
              </a:rPr>
              <a:t>Gate C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b="1" dirty="0">
                <a:solidFill>
                  <a:srgbClr val="17365D"/>
                </a:solidFill>
              </a:rPr>
              <a:t>ANALYSIS_COMPLETED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5852160" y="24231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0"/>
                </a:solidFill>
              </a:rPr>
              <a:t>Q&amp;A en espanol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366760" y="1417320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FBEAE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76488" y="1536192"/>
            <a:ext cx="1746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7365D"/>
                </a:solidFill>
              </a:rPr>
              <a:t>Gate D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b="1" dirty="0">
                <a:solidFill>
                  <a:srgbClr val="17365D"/>
                </a:solidFill>
              </a:rPr>
              <a:t>INSUFFICIENT_EVIDENCE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8366760" y="24231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0"/>
                </a:solidFill>
              </a:rPr>
              <a:t>Fallo seguro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874520" y="3246120"/>
            <a:ext cx="694944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880360" y="3794760"/>
            <a:ext cx="2011680" cy="822960"/>
          </a:xfrm>
          <a:prstGeom prst="roundRect">
            <a:avLst>
              <a:gd name="adj" fmla="val 6667"/>
            </a:avLst>
          </a:prstGeom>
          <a:solidFill>
            <a:srgbClr val="EAF6E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90088" y="3913632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7365D"/>
                </a:solidFill>
              </a:rPr>
              <a:t>Phase 04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b="1" dirty="0">
                <a:solidFill>
                  <a:srgbClr val="17365D"/>
                </a:solidFill>
              </a:rPr>
              <a:t>VALIDATED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6629400" y="3794760"/>
            <a:ext cx="2011680" cy="822960"/>
          </a:xfrm>
          <a:prstGeom prst="roundRect">
            <a:avLst>
              <a:gd name="adj" fmla="val 6667"/>
            </a:avLst>
          </a:prstGeom>
          <a:solidFill>
            <a:srgbClr val="EAF6E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39128" y="3913632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7365D"/>
                </a:solidFill>
              </a:rPr>
              <a:t>Phase 05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b="1" dirty="0">
                <a:solidFill>
                  <a:srgbClr val="17365D"/>
                </a:solidFill>
              </a:rPr>
              <a:t>READY</a:t>
            </a:r>
            <a:endParaRPr lang="en-US" sz="1180" dirty="0"/>
          </a:p>
        </p:txBody>
      </p:sp>
      <p:sp>
        <p:nvSpPr>
          <p:cNvPr id="22" name="Text 20"/>
          <p:cNvSpPr/>
          <p:nvPr/>
        </p:nvSpPr>
        <p:spPr>
          <a:xfrm>
            <a:off x="2011680" y="52120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La decision READY no ejecuta shell, no llama al modelo y no muta el repositorio.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692640" y="6528816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470"/>
                </a:solidFill>
              </a:rPr>
              <a:t>Storefront Change Guard · 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Trazabilidad de entrega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7724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</a:rPr>
              <a:t>Cada fase queda vinculada con fixes, enhancements y review final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258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470"/>
                </a:solidFill>
              </a:rPr>
              <a:t>Fase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645920" y="132588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470"/>
                </a:solidFill>
              </a:rPr>
              <a:t>Contenido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617720" y="132588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470"/>
                </a:solidFill>
              </a:rPr>
              <a:t>Cambios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0" y="13258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470"/>
                </a:solidFill>
              </a:rPr>
              <a:t>Estado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1609344"/>
            <a:ext cx="1060704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66420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17365D"/>
                </a:solidFill>
              </a:rPr>
              <a:t>Phase-00</a:t>
            </a:r>
            <a:endParaRPr lang="en-US" sz="970" dirty="0"/>
          </a:p>
        </p:txBody>
      </p:sp>
      <p:sp>
        <p:nvSpPr>
          <p:cNvPr id="11" name="Text 9"/>
          <p:cNvSpPr/>
          <p:nvPr/>
        </p:nvSpPr>
        <p:spPr>
          <a:xfrm>
            <a:off x="1645920" y="166420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1D1D1F"/>
                </a:solidFill>
              </a:rPr>
              <a:t>Baseline</a:t>
            </a:r>
            <a:endParaRPr lang="en-US" sz="970" dirty="0"/>
          </a:p>
        </p:txBody>
      </p:sp>
      <p:sp>
        <p:nvSpPr>
          <p:cNvPr id="12" name="Text 10"/>
          <p:cNvSpPr/>
          <p:nvPr/>
        </p:nvSpPr>
        <p:spPr>
          <a:xfrm>
            <a:off x="4617720" y="1664208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D1D1F"/>
                </a:solidFill>
              </a:rPr>
              <a:t>Sin fix</a:t>
            </a:r>
            <a:endParaRPr lang="en-US" sz="940" dirty="0"/>
          </a:p>
        </p:txBody>
      </p:sp>
      <p:sp>
        <p:nvSpPr>
          <p:cNvPr id="13" name="Text 11"/>
          <p:cNvSpPr/>
          <p:nvPr/>
        </p:nvSpPr>
        <p:spPr>
          <a:xfrm>
            <a:off x="9189720" y="166420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2E7D32"/>
                </a:solidFill>
              </a:rPr>
              <a:t>VERIFIED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685800" y="2139696"/>
            <a:ext cx="10607040" cy="393192"/>
          </a:xfrm>
          <a:prstGeom prst="roundRect">
            <a:avLst>
              <a:gd name="adj" fmla="val 9302"/>
            </a:avLst>
          </a:prstGeom>
          <a:solidFill>
            <a:srgbClr val="F7F9FC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219456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17365D"/>
                </a:solidFill>
              </a:rPr>
              <a:t>Phase-01</a:t>
            </a:r>
            <a:endParaRPr lang="en-US" sz="970" dirty="0"/>
          </a:p>
        </p:txBody>
      </p:sp>
      <p:sp>
        <p:nvSpPr>
          <p:cNvPr id="16" name="Text 14"/>
          <p:cNvSpPr/>
          <p:nvPr/>
        </p:nvSpPr>
        <p:spPr>
          <a:xfrm>
            <a:off x="1645920" y="219456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1D1D1F"/>
                </a:solidFill>
              </a:rPr>
              <a:t>Storefront demo</a:t>
            </a:r>
            <a:endParaRPr lang="en-US" sz="970" dirty="0"/>
          </a:p>
        </p:txBody>
      </p:sp>
      <p:sp>
        <p:nvSpPr>
          <p:cNvPr id="17" name="Text 15"/>
          <p:cNvSpPr/>
          <p:nvPr/>
        </p:nvSpPr>
        <p:spPr>
          <a:xfrm>
            <a:off x="4617720" y="2194560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D1D1F"/>
                </a:solidFill>
              </a:rPr>
              <a:t>FIX-01, FIX-02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9189720" y="21945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2E7D32"/>
                </a:solidFill>
              </a:rPr>
              <a:t>VERIFIED</a:t>
            </a: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685800" y="2670048"/>
            <a:ext cx="1060704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272491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17365D"/>
                </a:solidFill>
              </a:rPr>
              <a:t>Phase-02</a:t>
            </a:r>
            <a:endParaRPr lang="en-US" sz="970" dirty="0"/>
          </a:p>
        </p:txBody>
      </p:sp>
      <p:sp>
        <p:nvSpPr>
          <p:cNvPr id="21" name="Text 19"/>
          <p:cNvSpPr/>
          <p:nvPr/>
        </p:nvSpPr>
        <p:spPr>
          <a:xfrm>
            <a:off x="1645920" y="272491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1D1D1F"/>
                </a:solidFill>
              </a:rPr>
              <a:t>Intake + Git</a:t>
            </a:r>
            <a:endParaRPr lang="en-US" sz="970" dirty="0"/>
          </a:p>
        </p:txBody>
      </p:sp>
      <p:sp>
        <p:nvSpPr>
          <p:cNvPr id="22" name="Text 20"/>
          <p:cNvSpPr/>
          <p:nvPr/>
        </p:nvSpPr>
        <p:spPr>
          <a:xfrm>
            <a:off x="4617720" y="272491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D1D1F"/>
                </a:solidFill>
              </a:rPr>
              <a:t>FIX-01, FIX-02</a:t>
            </a:r>
            <a:endParaRPr lang="en-US" sz="940" dirty="0"/>
          </a:p>
        </p:txBody>
      </p:sp>
      <p:sp>
        <p:nvSpPr>
          <p:cNvPr id="23" name="Text 21"/>
          <p:cNvSpPr/>
          <p:nvPr/>
        </p:nvSpPr>
        <p:spPr>
          <a:xfrm>
            <a:off x="9189720" y="272491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2E7D32"/>
                </a:solidFill>
              </a:rPr>
              <a:t>VERIFIED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685800" y="3200400"/>
            <a:ext cx="10607040" cy="393192"/>
          </a:xfrm>
          <a:prstGeom prst="roundRect">
            <a:avLst>
              <a:gd name="adj" fmla="val 9302"/>
            </a:avLst>
          </a:prstGeom>
          <a:solidFill>
            <a:srgbClr val="F7F9FC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" y="32552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17365D"/>
                </a:solidFill>
              </a:rPr>
              <a:t>Phase-03</a:t>
            </a:r>
            <a:endParaRPr lang="en-US" sz="970" dirty="0"/>
          </a:p>
        </p:txBody>
      </p:sp>
      <p:sp>
        <p:nvSpPr>
          <p:cNvPr id="26" name="Text 24"/>
          <p:cNvSpPr/>
          <p:nvPr/>
        </p:nvSpPr>
        <p:spPr>
          <a:xfrm>
            <a:off x="1645920" y="3255264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1D1D1F"/>
                </a:solidFill>
              </a:rPr>
              <a:t>Analisis local</a:t>
            </a:r>
            <a:endParaRPr lang="en-US" sz="970" dirty="0"/>
          </a:p>
        </p:txBody>
      </p:sp>
      <p:sp>
        <p:nvSpPr>
          <p:cNvPr id="27" name="Text 25"/>
          <p:cNvSpPr/>
          <p:nvPr/>
        </p:nvSpPr>
        <p:spPr>
          <a:xfrm>
            <a:off x="4617720" y="3255264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D1D1F"/>
                </a:solidFill>
              </a:rPr>
              <a:t>FIX-01/02/03/06/07/08/09/10</a:t>
            </a:r>
            <a:endParaRPr lang="en-US" sz="940" dirty="0"/>
          </a:p>
        </p:txBody>
      </p:sp>
      <p:sp>
        <p:nvSpPr>
          <p:cNvPr id="28" name="Text 26"/>
          <p:cNvSpPr/>
          <p:nvPr/>
        </p:nvSpPr>
        <p:spPr>
          <a:xfrm>
            <a:off x="9189720" y="325526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2E7D32"/>
                </a:solidFill>
              </a:rPr>
              <a:t>VERIFIED</a:t>
            </a:r>
            <a:endParaRPr lang="en-US" sz="970" dirty="0"/>
          </a:p>
        </p:txBody>
      </p:sp>
      <p:sp>
        <p:nvSpPr>
          <p:cNvPr id="29" name="Shape 27"/>
          <p:cNvSpPr/>
          <p:nvPr/>
        </p:nvSpPr>
        <p:spPr>
          <a:xfrm>
            <a:off x="685800" y="3730752"/>
            <a:ext cx="1060704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" y="378561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17365D"/>
                </a:solidFill>
              </a:rPr>
              <a:t>Phase-04</a:t>
            </a:r>
            <a:endParaRPr lang="en-US" sz="970" dirty="0"/>
          </a:p>
        </p:txBody>
      </p:sp>
      <p:sp>
        <p:nvSpPr>
          <p:cNvPr id="31" name="Text 29"/>
          <p:cNvSpPr/>
          <p:nvPr/>
        </p:nvSpPr>
        <p:spPr>
          <a:xfrm>
            <a:off x="1645920" y="3785616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1D1D1F"/>
                </a:solidFill>
              </a:rPr>
              <a:t>Patch validation</a:t>
            </a:r>
            <a:endParaRPr lang="en-US" sz="970" dirty="0"/>
          </a:p>
        </p:txBody>
      </p:sp>
      <p:sp>
        <p:nvSpPr>
          <p:cNvPr id="32" name="Text 30"/>
          <p:cNvSpPr/>
          <p:nvPr/>
        </p:nvSpPr>
        <p:spPr>
          <a:xfrm>
            <a:off x="4617720" y="3785616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D1D1F"/>
                </a:solidFill>
              </a:rPr>
              <a:t>Sin fix</a:t>
            </a:r>
            <a:endParaRPr lang="en-US" sz="940" dirty="0"/>
          </a:p>
        </p:txBody>
      </p:sp>
      <p:sp>
        <p:nvSpPr>
          <p:cNvPr id="33" name="Text 31"/>
          <p:cNvSpPr/>
          <p:nvPr/>
        </p:nvSpPr>
        <p:spPr>
          <a:xfrm>
            <a:off x="9189720" y="378561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2E7D32"/>
                </a:solidFill>
              </a:rPr>
              <a:t>VERIFIED</a:t>
            </a:r>
            <a:endParaRPr lang="en-US" sz="970" dirty="0"/>
          </a:p>
        </p:txBody>
      </p:sp>
      <p:sp>
        <p:nvSpPr>
          <p:cNvPr id="34" name="Shape 32"/>
          <p:cNvSpPr/>
          <p:nvPr/>
        </p:nvSpPr>
        <p:spPr>
          <a:xfrm>
            <a:off x="685800" y="4261104"/>
            <a:ext cx="10607040" cy="393192"/>
          </a:xfrm>
          <a:prstGeom prst="roundRect">
            <a:avLst>
              <a:gd name="adj" fmla="val 9302"/>
            </a:avLst>
          </a:prstGeom>
          <a:solidFill>
            <a:srgbClr val="F7F9FC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" y="431596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17365D"/>
                </a:solidFill>
              </a:rPr>
              <a:t>Phase-05</a:t>
            </a:r>
            <a:endParaRPr lang="en-US" sz="970" dirty="0"/>
          </a:p>
        </p:txBody>
      </p:sp>
      <p:sp>
        <p:nvSpPr>
          <p:cNvPr id="36" name="Text 34"/>
          <p:cNvSpPr/>
          <p:nvPr/>
        </p:nvSpPr>
        <p:spPr>
          <a:xfrm>
            <a:off x="1645920" y="431596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1D1D1F"/>
                </a:solidFill>
              </a:rPr>
              <a:t>Readiness</a:t>
            </a:r>
            <a:endParaRPr lang="en-US" sz="970" dirty="0"/>
          </a:p>
        </p:txBody>
      </p:sp>
      <p:sp>
        <p:nvSpPr>
          <p:cNvPr id="37" name="Text 35"/>
          <p:cNvSpPr/>
          <p:nvPr/>
        </p:nvSpPr>
        <p:spPr>
          <a:xfrm>
            <a:off x="4617720" y="4315968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D1D1F"/>
                </a:solidFill>
              </a:rPr>
              <a:t>Sin fix</a:t>
            </a:r>
            <a:endParaRPr lang="en-US" sz="940" dirty="0"/>
          </a:p>
        </p:txBody>
      </p:sp>
      <p:sp>
        <p:nvSpPr>
          <p:cNvPr id="38" name="Text 36"/>
          <p:cNvSpPr/>
          <p:nvPr/>
        </p:nvSpPr>
        <p:spPr>
          <a:xfrm>
            <a:off x="9189720" y="431596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2E7D32"/>
                </a:solidFill>
              </a:rPr>
              <a:t>VERIFIED</a:t>
            </a:r>
            <a:endParaRPr lang="en-US" sz="970" dirty="0"/>
          </a:p>
        </p:txBody>
      </p:sp>
      <p:sp>
        <p:nvSpPr>
          <p:cNvPr id="39" name="Shape 37"/>
          <p:cNvSpPr/>
          <p:nvPr/>
        </p:nvSpPr>
        <p:spPr>
          <a:xfrm>
            <a:off x="685800" y="4791456"/>
            <a:ext cx="1060704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" y="484632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17365D"/>
                </a:solidFill>
              </a:rPr>
              <a:t>Phase-06</a:t>
            </a:r>
            <a:endParaRPr lang="en-US" sz="970" dirty="0"/>
          </a:p>
        </p:txBody>
      </p:sp>
      <p:sp>
        <p:nvSpPr>
          <p:cNvPr id="41" name="Text 39"/>
          <p:cNvSpPr/>
          <p:nvPr/>
        </p:nvSpPr>
        <p:spPr>
          <a:xfrm>
            <a:off x="1645920" y="484632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1D1D1F"/>
                </a:solidFill>
              </a:rPr>
              <a:t>Entrega</a:t>
            </a:r>
            <a:endParaRPr lang="en-US" sz="970" dirty="0"/>
          </a:p>
        </p:txBody>
      </p:sp>
      <p:sp>
        <p:nvSpPr>
          <p:cNvPr id="42" name="Text 40"/>
          <p:cNvSpPr/>
          <p:nvPr/>
        </p:nvSpPr>
        <p:spPr>
          <a:xfrm>
            <a:off x="4617720" y="4846320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D1D1F"/>
                </a:solidFill>
              </a:rPr>
              <a:t>ENHANCE-01</a:t>
            </a:r>
            <a:endParaRPr lang="en-US" sz="940" dirty="0"/>
          </a:p>
        </p:txBody>
      </p:sp>
      <p:sp>
        <p:nvSpPr>
          <p:cNvPr id="43" name="Text 41"/>
          <p:cNvSpPr/>
          <p:nvPr/>
        </p:nvSpPr>
        <p:spPr>
          <a:xfrm>
            <a:off x="9189720" y="484632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2E7D32"/>
                </a:solidFill>
              </a:rPr>
              <a:t>VERIFIED</a:t>
            </a:r>
            <a:endParaRPr lang="en-US" sz="970" dirty="0"/>
          </a:p>
        </p:txBody>
      </p:sp>
      <p:sp>
        <p:nvSpPr>
          <p:cNvPr id="44" name="Text 42"/>
          <p:cNvSpPr/>
          <p:nvPr/>
        </p:nvSpPr>
        <p:spPr>
          <a:xfrm>
            <a:off x="868680" y="5715000"/>
            <a:ext cx="10149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365D"/>
                </a:solidFill>
              </a:rPr>
              <a:t>Audiencia final: AUDIT/phase-06-REVIEW-01-final-audience-and-delivery-verification.md</a:t>
            </a:r>
            <a:endParaRPr lang="en-US" sz="1220" dirty="0"/>
          </a:p>
        </p:txBody>
      </p:sp>
      <p:sp>
        <p:nvSpPr>
          <p:cNvPr id="45" name="Text 43"/>
          <p:cNvSpPr/>
          <p:nvPr/>
        </p:nvSpPr>
        <p:spPr>
          <a:xfrm>
            <a:off x="9692640" y="6528816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470"/>
                </a:solidFill>
              </a:rPr>
              <a:t>Storefront Change Guard · 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Limites de ZIP y Git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7724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</a:rPr>
              <a:t>Entrega enfocada: evidencia curada si, archivos regenerables no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08760"/>
            <a:ext cx="4846320" cy="2057400"/>
          </a:xfrm>
          <a:prstGeom prst="roundRect">
            <a:avLst>
              <a:gd name="adj" fmla="val 2667"/>
            </a:avLst>
          </a:prstGeom>
          <a:solidFill>
            <a:srgbClr val="F1F8F2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655064"/>
            <a:ext cx="45171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</a:rPr>
              <a:t>Incluyo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</a:rPr>
              <a:t>Codigo, tests, scripts, docs en espanol, AUDIT, REPORT, benchmark_results, artefactos Phase 04/05, PowerPoint y originales en .original_en.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0" y="1508760"/>
            <a:ext cx="4846320" cy="2057400"/>
          </a:xfrm>
          <a:prstGeom prst="roundRect">
            <a:avLst>
              <a:gd name="adj" fmla="val 2667"/>
            </a:avLst>
          </a:prstGeom>
          <a:solidFill>
            <a:srgbClr val="F8F1F1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65392" y="1655064"/>
            <a:ext cx="45171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</a:rPr>
              <a:t>Excluyo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</a:rPr>
              <a:t>Pesos GGUF, .env, caches, venv, node_modules, benchmarks/ crudo, .git y storefront_change_guard.egg-info/.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4251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Regla especial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470916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D1D1F"/>
                </a:solidFill>
              </a:rPr>
              <a:t>`benchmark_results/` permanece porque prueba el Test 1. El cambio de modelo no lo invalida; explica el hallazgo posterior.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92640" y="6528816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470"/>
                </a:solidFill>
              </a:rPr>
              <a:t>Storefront Change Guard · 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 para la demo en vivo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7724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</a:rPr>
              <a:t>30 minutos, con foco en evidencias y decisiones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417320"/>
            <a:ext cx="384048" cy="384048"/>
          </a:xfrm>
          <a:prstGeom prst="rect">
            <a:avLst/>
          </a:prstGeom>
          <a:solidFill>
            <a:srgbClr val="1F77B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08760" y="14721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Mostrar README y alcance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384048" cy="384048"/>
          </a:xfrm>
          <a:prstGeom prst="rect">
            <a:avLst/>
          </a:prstGeom>
          <a:solidFill>
            <a:srgbClr val="1F77B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279806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Ejecutar/explicar Phase 03 gates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4069080"/>
            <a:ext cx="384048" cy="384048"/>
          </a:xfrm>
          <a:prstGeom prst="rect">
            <a:avLst/>
          </a:prstGeom>
          <a:solidFill>
            <a:srgbClr val="1F77B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08760" y="412394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Mostrar patch validation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09360" y="1417320"/>
            <a:ext cx="384048" cy="384048"/>
          </a:xfrm>
          <a:prstGeom prst="rect">
            <a:avLst/>
          </a:prstGeom>
          <a:solidFill>
            <a:srgbClr val="1F77B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03720" y="14721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Mostrar READY deterministico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09360" y="2743200"/>
            <a:ext cx="384048" cy="384048"/>
          </a:xfrm>
          <a:prstGeom prst="rect">
            <a:avLst/>
          </a:prstGeom>
          <a:solidFill>
            <a:srgbClr val="1F77B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903720" y="279806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Explicar cambio de modelo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09360" y="4069080"/>
            <a:ext cx="384048" cy="384048"/>
          </a:xfrm>
          <a:prstGeom prst="rect">
            <a:avLst/>
          </a:prstGeom>
          <a:solidFill>
            <a:srgbClr val="1F77B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903720" y="412394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Cerrar trade-offs y preguntas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828800" y="5532120"/>
            <a:ext cx="8503920" cy="566928"/>
          </a:xfrm>
          <a:prstGeom prst="roundRect">
            <a:avLst>
              <a:gd name="adj" fmla="val 9677"/>
            </a:avLst>
          </a:prstGeom>
          <a:solidFill>
            <a:srgbClr val="FFF8E8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93392" y="5678424"/>
            <a:ext cx="81747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</a:rPr>
              <a:t>Mensaje final: la IA acelera la review, pero la entrega conserva evidencia, limites de autoridad y reproducibilidad.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92640" y="6528816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470"/>
                </a:solidFill>
              </a:rPr>
              <a:t>Storefront Change Guard · 10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Candidatura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Storefront Change Guard</dc:title>
  <dc:subject>Storefront Change Guard - presentacion final</dc:subject>
  <dc:creator>Juan Braian Hernandez Morani</dc:creator>
  <cp:lastModifiedBy>Juan Braian Hernandez Morani</cp:lastModifiedBy>
  <cp:revision>1</cp:revision>
  <dcterms:created xsi:type="dcterms:W3CDTF">2026-06-26T07:38:40Z</dcterms:created>
  <dcterms:modified xsi:type="dcterms:W3CDTF">2026-06-26T07:38:40Z</dcterms:modified>
</cp:coreProperties>
</file>